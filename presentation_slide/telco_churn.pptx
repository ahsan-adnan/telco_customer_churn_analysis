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embeddedFontLst>
    <p:embeddedFont>
      <p:font typeface="Calibri" panose="020F0502020204030204" pitchFamily="34" charset="0"/>
      <p:regular r:id="rId11"/>
      <p:bold r:id="rId12"/>
      <p:italic r:id="rId13"/>
      <p:boldItalic r:id="rId14"/>
    </p:embeddedFont>
    <p:embeddedFont>
      <p:font typeface="Host Grotesk" panose="020B0604020202020204" charset="0"/>
      <p:regular r:id="rId15"/>
    </p:embeddedFont>
    <p:embeddedFont>
      <p:font typeface="Host Grotesk Bold" panose="020B0604020202020204" charset="0"/>
      <p:regular r:id="rId16"/>
    </p:embeddedFont>
    <p:embeddedFont>
      <p:font typeface="Host Grotesk ExtraBold" panose="020B0604020202020204" charset="0"/>
      <p:regular r:id="rId17"/>
    </p:embeddedFont>
    <p:embeddedFont>
      <p:font typeface="Host Grotesk Medium" panose="020B0604020202020204" charset="0"/>
      <p:regular r:id="rId18"/>
    </p:embeddedFont>
    <p:embeddedFont>
      <p:font typeface="Host Grotesk SemiBold" panose="020B0604020202020204" charset="0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31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93636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017" cy="6858000"/>
          </a:xfrm>
          <a:prstGeom prst="rect">
            <a:avLst/>
          </a:prstGeom>
          <a:solidFill>
            <a:srgbClr val="1D35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33387" y="576263"/>
            <a:ext cx="624824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4000" kern="100" spc="-40" dirty="0">
                <a:solidFill>
                  <a:srgbClr val="FFFFFF"/>
                </a:solidFill>
                <a:latin typeface="Host Grotesk ExtraBold" pitchFamily="34" charset="0"/>
                <a:ea typeface="Host Grotesk ExtraBold" pitchFamily="34" charset="-122"/>
                <a:cs typeface="Host Grotesk ExtraBold" pitchFamily="34" charset="0"/>
              </a:rPr>
              <a:t>Telco Customer Churn Analysis: Finding Who Leaves and Why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33387" y="3891955"/>
            <a:ext cx="6248244" cy="6742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1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Host Grotesk" pitchFamily="34" charset="0"/>
                <a:ea typeface="Host Grotesk" pitchFamily="34" charset="-122"/>
                <a:cs typeface="Host Grotesk" pitchFamily="34" charset="0"/>
              </a:rPr>
              <a:t>End-to-end analytics project using Python, PostgreSQL, and Power BI.</a:t>
            </a:r>
            <a:endParaRPr lang="en-US" sz="140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Host Grotesk" pitchFamily="34" charset="0"/>
                <a:ea typeface="Host Grotesk" pitchFamily="34" charset="-122"/>
                <a:cs typeface="Host Grotesk" pitchFamily="34" charset="0"/>
              </a:rPr>
              <a:t>Author: Md. Ahsan Ul Hoque Adnan</a:t>
            </a:r>
            <a:endParaRPr lang="en-US" sz="1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017" y="0"/>
            <a:ext cx="487667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2240340"/>
            <a:ext cx="11277318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2200" kern="100" spc="-22" dirty="0">
                <a:solidFill>
                  <a:srgbClr val="121212"/>
                </a:solidFill>
                <a:latin typeface="Host Grotesk ExtraBold" pitchFamily="34" charset="0"/>
                <a:ea typeface="Host Grotesk ExtraBold" pitchFamily="34" charset="-122"/>
                <a:cs typeface="Host Grotesk ExtraBold" pitchFamily="34" charset="0"/>
              </a:rPr>
              <a:t>A telecom company is losing customers every month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189" y="2684760"/>
            <a:ext cx="11734506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1E1E1C"/>
                </a:solidFill>
                <a:latin typeface="Host Grotesk" pitchFamily="34" charset="0"/>
                <a:ea typeface="Host Grotesk" pitchFamily="34" charset="-122"/>
                <a:cs typeface="Host Grotesk" pitchFamily="34" charset="0"/>
              </a:rPr>
              <a:t>Acquiring a new customer costs far more than keeping one.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189" y="3404791"/>
            <a:ext cx="2476438" cy="1239441"/>
          </a:xfrm>
          <a:prstGeom prst="roundRect">
            <a:avLst>
              <a:gd name="adj" fmla="val 922"/>
            </a:avLst>
          </a:prstGeom>
          <a:solidFill>
            <a:srgbClr val="E9EEF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685783" y="3900091"/>
            <a:ext cx="2019249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ost Grotesk" pitchFamily="34" charset="0"/>
                <a:ea typeface="Host Grotesk" pitchFamily="34" charset="-122"/>
                <a:cs typeface="Host Grotesk" pitchFamily="34" charset="0"/>
              </a:rPr>
              <a:t>Measure churn and revenue lost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390815" y="3404791"/>
            <a:ext cx="2476438" cy="1239441"/>
          </a:xfrm>
          <a:prstGeom prst="roundRect">
            <a:avLst>
              <a:gd name="adj" fmla="val 922"/>
            </a:avLst>
          </a:prstGeom>
          <a:solidFill>
            <a:srgbClr val="E9EEF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3619409" y="3900091"/>
            <a:ext cx="2247844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ost Grotesk" pitchFamily="34" charset="0"/>
                <a:ea typeface="Host Grotesk" pitchFamily="34" charset="-122"/>
                <a:cs typeface="Host Grotesk" pitchFamily="34" charset="0"/>
              </a:rPr>
              <a:t>Find the drivers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24442" y="3404791"/>
            <a:ext cx="2476438" cy="1239441"/>
          </a:xfrm>
          <a:prstGeom prst="roundRect">
            <a:avLst>
              <a:gd name="adj" fmla="val 922"/>
            </a:avLst>
          </a:prstGeom>
          <a:solidFill>
            <a:srgbClr val="E9EEF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6553036" y="3900091"/>
            <a:ext cx="2019249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ost Grotesk" pitchFamily="34" charset="0"/>
                <a:ea typeface="Host Grotesk" pitchFamily="34" charset="-122"/>
                <a:cs typeface="Host Grotesk" pitchFamily="34" charset="0"/>
              </a:rPr>
              <a:t>Locate high-risk segments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258068" y="3404791"/>
            <a:ext cx="2476438" cy="1239441"/>
          </a:xfrm>
          <a:prstGeom prst="roundRect">
            <a:avLst>
              <a:gd name="adj" fmla="val 922"/>
            </a:avLst>
          </a:prstGeom>
          <a:solidFill>
            <a:srgbClr val="E9EEF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9486663" y="3900091"/>
            <a:ext cx="2019249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ost Grotesk" pitchFamily="34" charset="0"/>
                <a:ea typeface="Host Grotesk" pitchFamily="34" charset="-122"/>
                <a:cs typeface="Host Grotesk" pitchFamily="34" charset="0"/>
              </a:rPr>
              <a:t>Recommend retention actions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428714" y="3138091"/>
            <a:ext cx="533387" cy="533400"/>
          </a:xfrm>
          <a:prstGeom prst="ellipse">
            <a:avLst/>
          </a:prstGeom>
          <a:solidFill>
            <a:srgbClr val="2338D6"/>
          </a:solidFill>
          <a:ln w="6350">
            <a:solidFill>
              <a:srgbClr val="B9BDDE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8411" y="3277791"/>
            <a:ext cx="253994" cy="25400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4362341" y="3138091"/>
            <a:ext cx="533387" cy="533400"/>
          </a:xfrm>
          <a:prstGeom prst="ellipse">
            <a:avLst/>
          </a:prstGeom>
          <a:solidFill>
            <a:srgbClr val="2338D6"/>
          </a:solidFill>
          <a:ln w="6350">
            <a:solidFill>
              <a:srgbClr val="B9BDDE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2037" y="3277791"/>
            <a:ext cx="253994" cy="25400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7295967" y="3138091"/>
            <a:ext cx="533387" cy="533400"/>
          </a:xfrm>
          <a:prstGeom prst="ellipse">
            <a:avLst/>
          </a:prstGeom>
          <a:solidFill>
            <a:srgbClr val="2338D6"/>
          </a:solidFill>
          <a:ln w="6350">
            <a:solidFill>
              <a:srgbClr val="B9BDDE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35664" y="3277791"/>
            <a:ext cx="253994" cy="254000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10229594" y="3138091"/>
            <a:ext cx="533387" cy="533400"/>
          </a:xfrm>
          <a:prstGeom prst="ellipse">
            <a:avLst/>
          </a:prstGeom>
          <a:solidFill>
            <a:srgbClr val="2338D6"/>
          </a:solidFill>
          <a:ln w="6350">
            <a:solidFill>
              <a:srgbClr val="B9BDDE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69291" y="3277791"/>
            <a:ext cx="253994" cy="254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2519442"/>
            <a:ext cx="11277318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2200" kern="100" spc="-22" dirty="0">
                <a:solidFill>
                  <a:srgbClr val="121212"/>
                </a:solidFill>
                <a:latin typeface="Host Grotesk ExtraBold" pitchFamily="34" charset="0"/>
                <a:ea typeface="Host Grotesk ExtraBold" pitchFamily="34" charset="-122"/>
                <a:cs typeface="Host Grotesk ExtraBold" pitchFamily="34" charset="0"/>
              </a:rPr>
              <a:t>The workflow turns raw customer data into retention actions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189" y="2963863"/>
            <a:ext cx="11734506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00" dirty="0">
                <a:solidFill>
                  <a:srgbClr val="1E1E1C"/>
                </a:solidFill>
                <a:latin typeface="Host Grotesk" pitchFamily="34" charset="0"/>
                <a:ea typeface="Host Grotesk" pitchFamily="34" charset="-122"/>
                <a:cs typeface="Host Grotesk" pitchFamily="34" charset="0"/>
              </a:rPr>
              <a:t>IBM Telco dataset (Kaggle) — 7,043 customers, 21 columns.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189" y="3399433"/>
            <a:ext cx="840759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121212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0"/>
              </a:rPr>
              <a:t>01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189" y="3648373"/>
            <a:ext cx="2590735" cy="19050"/>
          </a:xfrm>
          <a:prstGeom prst="rect">
            <a:avLst/>
          </a:prstGeom>
          <a:solidFill>
            <a:srgbClr val="2338D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457189" y="3784560"/>
            <a:ext cx="2590735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21212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0"/>
              </a:rPr>
              <a:t>Python cleaning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352716" y="3399433"/>
            <a:ext cx="840759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121212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0"/>
              </a:rPr>
              <a:t>02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352716" y="3648373"/>
            <a:ext cx="2590735" cy="19050"/>
          </a:xfrm>
          <a:prstGeom prst="rect">
            <a:avLst/>
          </a:prstGeom>
          <a:solidFill>
            <a:srgbClr val="2338D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3352716" y="3784560"/>
            <a:ext cx="2590735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21212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0"/>
              </a:rPr>
              <a:t>PostgreSQL analysis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248244" y="3399433"/>
            <a:ext cx="840759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121212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0"/>
              </a:rPr>
              <a:t>03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48244" y="3648373"/>
            <a:ext cx="2590735" cy="19050"/>
          </a:xfrm>
          <a:prstGeom prst="rect">
            <a:avLst/>
          </a:prstGeom>
          <a:solidFill>
            <a:srgbClr val="2338D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6248244" y="3784560"/>
            <a:ext cx="2590735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21212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0"/>
              </a:rPr>
              <a:t>Power BI dashboard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3771" y="3399433"/>
            <a:ext cx="840759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121212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0"/>
              </a:rPr>
              <a:t>04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143771" y="3648373"/>
            <a:ext cx="2590735" cy="19050"/>
          </a:xfrm>
          <a:prstGeom prst="rect">
            <a:avLst/>
          </a:prstGeom>
          <a:solidFill>
            <a:srgbClr val="2338D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9143771" y="3784560"/>
            <a:ext cx="2590735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21212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0"/>
              </a:rPr>
              <a:t>Recommendations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7189" y="4177090"/>
            <a:ext cx="11734506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kern="100" spc="11" dirty="0">
                <a:solidFill>
                  <a:srgbClr val="5C5C58"/>
                </a:solidFill>
                <a:latin typeface="Host Grotesk" pitchFamily="34" charset="0"/>
                <a:ea typeface="Host Grotesk" pitchFamily="34" charset="-122"/>
                <a:cs typeface="Host Grotesk" pitchFamily="34" charset="0"/>
              </a:rPr>
              <a:t>11 blank TotalCharges values (new customers) set to 0. Created ChurnFlag and TenureGroup.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83870"/>
            <a:ext cx="11277318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2200" kern="100" spc="-22" dirty="0">
                <a:solidFill>
                  <a:srgbClr val="121212"/>
                </a:solidFill>
                <a:latin typeface="Host Grotesk ExtraBold" pitchFamily="34" charset="0"/>
                <a:ea typeface="Host Grotesk ExtraBold" pitchFamily="34" charset="-122"/>
                <a:cs typeface="Host Grotesk ExtraBold" pitchFamily="34" charset="0"/>
              </a:rPr>
              <a:t>Churn is concentrated, measurable, and expensive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189" y="2852539"/>
            <a:ext cx="5410065" cy="1270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457189" y="3195757"/>
            <a:ext cx="5410065" cy="868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7200" kern="100" spc="-144" dirty="0">
                <a:solidFill>
                  <a:srgbClr val="E63946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0"/>
              </a:rPr>
              <a:t>26.5%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7189" y="4140299"/>
            <a:ext cx="5410065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00" dirty="0">
                <a:solidFill>
                  <a:srgbClr val="1E1E1C"/>
                </a:solidFill>
                <a:latin typeface="Host Grotesk" pitchFamily="34" charset="0"/>
                <a:ea typeface="Host Grotesk" pitchFamily="34" charset="-122"/>
                <a:cs typeface="Host Grotesk" pitchFamily="34" charset="0"/>
              </a:rPr>
              <a:t>overall churn — 1,869 customers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324442" y="2852539"/>
            <a:ext cx="5410065" cy="1270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6324442" y="3195757"/>
            <a:ext cx="5410065" cy="868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7200" kern="100" spc="-144" dirty="0">
                <a:solidFill>
                  <a:srgbClr val="E63946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0"/>
              </a:rPr>
              <a:t>$139K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6324442" y="4140299"/>
            <a:ext cx="5410065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00" dirty="0">
                <a:solidFill>
                  <a:srgbClr val="1E1E1C"/>
                </a:solidFill>
                <a:latin typeface="Host Grotesk" pitchFamily="34" charset="0"/>
                <a:ea typeface="Host Grotesk" pitchFamily="34" charset="-122"/>
                <a:cs typeface="Host Grotesk" pitchFamily="34" charset="0"/>
              </a:rPr>
              <a:t>monthly revenue lost — 30.5% of total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189" y="4855270"/>
            <a:ext cx="5410065" cy="1270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457189" y="5198487"/>
            <a:ext cx="5410065" cy="868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7200" kern="100" spc="-144" dirty="0">
                <a:solidFill>
                  <a:srgbClr val="E63946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0"/>
              </a:rPr>
              <a:t>43%</a:t>
            </a:r>
            <a:endParaRPr lang="en-US" sz="7200" dirty="0"/>
          </a:p>
        </p:txBody>
      </p:sp>
      <p:sp>
        <p:nvSpPr>
          <p:cNvPr id="11" name="Text 9"/>
          <p:cNvSpPr/>
          <p:nvPr/>
        </p:nvSpPr>
        <p:spPr>
          <a:xfrm>
            <a:off x="457189" y="6143030"/>
            <a:ext cx="5410065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00" dirty="0">
                <a:solidFill>
                  <a:srgbClr val="1E1E1C"/>
                </a:solidFill>
                <a:latin typeface="Host Grotesk" pitchFamily="34" charset="0"/>
                <a:ea typeface="Host Grotesk" pitchFamily="34" charset="-122"/>
                <a:cs typeface="Host Grotesk" pitchFamily="34" charset="0"/>
              </a:rPr>
              <a:t>churn on month-to-month contracts vs 3% on two-year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324442" y="4855270"/>
            <a:ext cx="5410065" cy="12700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324442" y="5198487"/>
            <a:ext cx="5410065" cy="868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7200" kern="100" spc="-144" dirty="0">
                <a:solidFill>
                  <a:srgbClr val="2A9D8F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0"/>
              </a:rPr>
              <a:t>47%</a:t>
            </a:r>
            <a:endParaRPr lang="en-US" sz="7200" dirty="0"/>
          </a:p>
        </p:txBody>
      </p:sp>
      <p:sp>
        <p:nvSpPr>
          <p:cNvPr id="14" name="Text 12"/>
          <p:cNvSpPr/>
          <p:nvPr/>
        </p:nvSpPr>
        <p:spPr>
          <a:xfrm>
            <a:off x="6324442" y="6143030"/>
            <a:ext cx="5410065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00" dirty="0">
                <a:solidFill>
                  <a:srgbClr val="1E1E1C"/>
                </a:solidFill>
                <a:latin typeface="Host Grotesk" pitchFamily="34" charset="0"/>
                <a:ea typeface="Host Grotesk" pitchFamily="34" charset="-122"/>
                <a:cs typeface="Host Grotesk" pitchFamily="34" charset="0"/>
              </a:rPr>
              <a:t>churn in the first 12 months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83870"/>
            <a:ext cx="6908627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2200" kern="100" spc="-22" dirty="0">
                <a:solidFill>
                  <a:srgbClr val="121212"/>
                </a:solidFill>
                <a:latin typeface="Host Grotesk ExtraBold" pitchFamily="34" charset="0"/>
                <a:ea typeface="Host Grotesk ExtraBold" pitchFamily="34" charset="-122"/>
                <a:cs typeface="Host Grotesk ExtraBold" pitchFamily="34" charset="0"/>
              </a:rPr>
              <a:t>Contract, payment, add-ons, and billing shape churn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189" y="902891"/>
            <a:ext cx="3301917" cy="921941"/>
          </a:xfrm>
          <a:prstGeom prst="rect">
            <a:avLst/>
          </a:prstGeom>
          <a:solidFill>
            <a:srgbClr val="FDE8E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660383" y="1106091"/>
            <a:ext cx="3098722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0"/>
              </a:rPr>
              <a:t>Fiber optic: 42% vs DSL: 19%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063898" y="902891"/>
            <a:ext cx="3301917" cy="921941"/>
          </a:xfrm>
          <a:prstGeom prst="rect">
            <a:avLst/>
          </a:prstGeom>
          <a:solidFill>
            <a:srgbClr val="FDE8E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4267093" y="1106091"/>
            <a:ext cx="2895528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0"/>
              </a:rPr>
              <a:t>Electronic check: 45% vs 15–19% for other payment methods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189" y="2129631"/>
            <a:ext cx="3301917" cy="921941"/>
          </a:xfrm>
          <a:prstGeom prst="rect">
            <a:avLst/>
          </a:prstGeom>
          <a:solidFill>
            <a:srgbClr val="E2F3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660383" y="2332831"/>
            <a:ext cx="2895528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ost Grotesk" pitchFamily="34" charset="0"/>
                <a:ea typeface="Host Grotesk" pitchFamily="34" charset="-122"/>
                <a:cs typeface="Host Grotesk" pitchFamily="34" charset="0"/>
              </a:rPr>
              <a:t>Churn falls as add-ons rise: 54% with none, 7% with all three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063898" y="2129631"/>
            <a:ext cx="3301917" cy="921941"/>
          </a:xfrm>
          <a:prstGeom prst="rect">
            <a:avLst/>
          </a:prstGeom>
          <a:solidFill>
            <a:srgbClr val="E2F3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4267093" y="2332831"/>
            <a:ext cx="2895528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ost Grotesk" pitchFamily="34" charset="0"/>
                <a:ea typeface="Host Grotesk" pitchFamily="34" charset="-122"/>
                <a:cs typeface="Host Grotesk" pitchFamily="34" charset="0"/>
              </a:rPr>
              <a:t>Churned customers pay more: $74 vs $61 per month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80193" y="0"/>
            <a:ext cx="3911502" cy="6858000"/>
          </a:xfrm>
          <a:prstGeom prst="rect">
            <a:avLst/>
          </a:prstGeom>
          <a:solidFill>
            <a:srgbClr val="EEEDE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8584985" y="3240961"/>
            <a:ext cx="3301917" cy="377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endParaRPr lang="en-US" sz="11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B187E67-3BE8-4417-AEEE-873ED4D78B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0192" y="32657"/>
            <a:ext cx="3911503" cy="271187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7ADB478-B750-4C45-86C7-65785D49F3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0194" y="3502480"/>
            <a:ext cx="3911502" cy="285909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649573" cy="6858000"/>
          </a:xfrm>
          <a:prstGeom prst="rect">
            <a:avLst/>
          </a:prstGeom>
          <a:solidFill>
            <a:srgbClr val="FDE8E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06390" y="433070"/>
            <a:ext cx="5836794" cy="5865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2200" kern="100" spc="-22" dirty="0">
                <a:solidFill>
                  <a:srgbClr val="000000"/>
                </a:solidFill>
                <a:latin typeface="Host Grotesk ExtraBold" pitchFamily="34" charset="0"/>
                <a:ea typeface="Host Grotesk ExtraBold" pitchFamily="34" charset="-122"/>
                <a:cs typeface="Host Grotesk ExtraBold" pitchFamily="34" charset="0"/>
              </a:rPr>
              <a:t>One segment accounts for roughly half of churned revenue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06390" y="1268254"/>
            <a:ext cx="5836794" cy="1013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8400" kern="100" spc="-168" dirty="0">
                <a:solidFill>
                  <a:srgbClr val="E63946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0"/>
              </a:rPr>
              <a:t>60%</a:t>
            </a:r>
            <a:endParaRPr lang="en-US" sz="8400" dirty="0"/>
          </a:p>
        </p:txBody>
      </p:sp>
      <p:sp>
        <p:nvSpPr>
          <p:cNvPr id="5" name="Text 3"/>
          <p:cNvSpPr/>
          <p:nvPr/>
        </p:nvSpPr>
        <p:spPr>
          <a:xfrm>
            <a:off x="406390" y="2336602"/>
            <a:ext cx="5836794" cy="1507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1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Host Grotesk" pitchFamily="34" charset="0"/>
                <a:ea typeface="Host Grotesk" pitchFamily="34" charset="-122"/>
                <a:cs typeface="Host Grotesk" pitchFamily="34" charset="0"/>
              </a:rPr>
              <a:t>Month-to-month, fiber optic, electronic check customers</a:t>
            </a:r>
            <a:endParaRPr lang="en-US" sz="1400" dirty="0"/>
          </a:p>
          <a:p>
            <a:pPr marL="0" indent="0" algn="l">
              <a:lnSpc>
                <a:spcPct val="121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Host Grotesk" pitchFamily="34" charset="0"/>
                <a:ea typeface="Host Grotesk" pitchFamily="34" charset="-122"/>
                <a:cs typeface="Host Grotesk" pitchFamily="34" charset="0"/>
              </a:rPr>
              <a:t>1,307 customers</a:t>
            </a:r>
            <a:endParaRPr lang="en-US" sz="1400" dirty="0"/>
          </a:p>
          <a:p>
            <a:pPr marL="0" indent="0" algn="l">
              <a:lnSpc>
                <a:spcPct val="121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Host Grotesk" pitchFamily="34" charset="0"/>
                <a:ea typeface="Host Grotesk" pitchFamily="34" charset="-122"/>
                <a:cs typeface="Host Grotesk" pitchFamily="34" charset="0"/>
              </a:rPr>
              <a:t>About $68K lost per month</a:t>
            </a:r>
            <a:endParaRPr lang="en-US" sz="140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ost Grotesk" pitchFamily="34" charset="0"/>
                <a:ea typeface="Host Grotesk" pitchFamily="34" charset="-122"/>
                <a:cs typeface="Host Grotesk" pitchFamily="34" charset="0"/>
              </a:rPr>
              <a:t>Roughly half of all revenue lost to churn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06390" y="4003159"/>
            <a:ext cx="6243184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kern="100" spc="11" dirty="0">
                <a:solidFill>
                  <a:srgbClr val="000000"/>
                </a:solidFill>
                <a:latin typeface="Host Grotesk" pitchFamily="34" charset="0"/>
                <a:ea typeface="Host Grotesk" pitchFamily="34" charset="-122"/>
                <a:cs typeface="Host Grotesk" pitchFamily="34" charset="0"/>
              </a:rPr>
              <a:t>Footnote: segments with fewer than 50 customers excluded.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106663" y="0"/>
            <a:ext cx="5085032" cy="6858000"/>
          </a:xfrm>
          <a:prstGeom prst="rect">
            <a:avLst/>
          </a:prstGeom>
          <a:solidFill>
            <a:srgbClr val="EEEDE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7513053" y="3240961"/>
            <a:ext cx="4272252" cy="377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kern="100" spc="11" dirty="0">
                <a:solidFill>
                  <a:srgbClr val="000000"/>
                </a:solidFill>
                <a:latin typeface="Host Grotesk" pitchFamily="34" charset="0"/>
                <a:ea typeface="Host Grotesk" pitchFamily="34" charset="-122"/>
                <a:cs typeface="Host Grotesk" pitchFamily="34" charset="0"/>
              </a:rPr>
              <a:t>[DASHBOARD SCREENSHOT PLACEHOLDER — Risk and Action dashboard]</a:t>
            </a:r>
            <a:endParaRPr lang="en-US" sz="11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9CB1776-8C7E-41A4-9F2A-3A2F31316F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6662" y="0"/>
            <a:ext cx="5085337" cy="361799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B78373D-5237-44FB-935E-53BE5F7073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6663" y="3672920"/>
            <a:ext cx="5085337" cy="331315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83870"/>
            <a:ext cx="11277318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2200" kern="100" spc="-22" dirty="0">
                <a:solidFill>
                  <a:srgbClr val="121212"/>
                </a:solidFill>
                <a:latin typeface="Host Grotesk ExtraBold" pitchFamily="34" charset="0"/>
                <a:ea typeface="Host Grotesk ExtraBold" pitchFamily="34" charset="-122"/>
                <a:cs typeface="Host Grotesk ExtraBold" pitchFamily="34" charset="0"/>
              </a:rPr>
              <a:t>Retention should start with the highest-risk segment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189" y="2605782"/>
            <a:ext cx="3454314" cy="1939727"/>
          </a:xfrm>
          <a:prstGeom prst="rect">
            <a:avLst/>
          </a:prstGeom>
          <a:solidFill>
            <a:srgbClr val="E2F3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711182" y="2885182"/>
            <a:ext cx="332771" cy="332780"/>
          </a:xfrm>
          <a:prstGeom prst="ellipse">
            <a:avLst/>
          </a:prstGeom>
          <a:solidFill>
            <a:srgbClr val="2338D6"/>
          </a:solidFill>
          <a:ln w="6350">
            <a:solidFill>
              <a:srgbClr val="B9BD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761981" y="2962672"/>
            <a:ext cx="840759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11182" y="3301464"/>
            <a:ext cx="2946326" cy="9751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0"/>
              </a:rPr>
              <a:t>Move month-to-month customers to longer contracts, starting with the fiber and electronic check segment.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368691" y="2605782"/>
            <a:ext cx="3454314" cy="1939727"/>
          </a:xfrm>
          <a:prstGeom prst="rect">
            <a:avLst/>
          </a:prstGeom>
          <a:solidFill>
            <a:srgbClr val="E2F3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622684" y="2885182"/>
            <a:ext cx="332771" cy="332780"/>
          </a:xfrm>
          <a:prstGeom prst="ellipse">
            <a:avLst/>
          </a:prstGeom>
          <a:solidFill>
            <a:srgbClr val="2338D6"/>
          </a:solidFill>
          <a:ln w="6350">
            <a:solidFill>
              <a:srgbClr val="B9BD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4673483" y="2962672"/>
            <a:ext cx="840759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22684" y="3301464"/>
            <a:ext cx="2946326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0"/>
              </a:rPr>
              <a:t>Offer autopay discounts and review fiber pricing and quality.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280193" y="2605782"/>
            <a:ext cx="3454314" cy="1939727"/>
          </a:xfrm>
          <a:prstGeom prst="rect">
            <a:avLst/>
          </a:prstGeom>
          <a:solidFill>
            <a:srgbClr val="E2F3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8534187" y="2885182"/>
            <a:ext cx="332771" cy="332780"/>
          </a:xfrm>
          <a:prstGeom prst="ellipse">
            <a:avLst/>
          </a:prstGeom>
          <a:solidFill>
            <a:srgbClr val="2338D6"/>
          </a:solidFill>
          <a:ln w="6350">
            <a:solidFill>
              <a:srgbClr val="B9BD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8584985" y="2962672"/>
            <a:ext cx="840759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0"/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534187" y="3301464"/>
            <a:ext cx="2946326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0"/>
              </a:rPr>
              <a:t>Give new customers free tech support or online security.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96253"/>
            <a:ext cx="11277318" cy="906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400" kern="100" spc="-34" dirty="0">
                <a:solidFill>
                  <a:srgbClr val="121212"/>
                </a:solidFill>
                <a:latin typeface="Host Grotesk ExtraBold" pitchFamily="34" charset="0"/>
                <a:ea typeface="Host Grotesk ExtraBold" pitchFamily="34" charset="-122"/>
                <a:cs typeface="Host Grotesk ExtraBold" pitchFamily="34" charset="0"/>
              </a:rPr>
              <a:t>Customers leave early, on flexible contracts, with higher bills and no protection services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189" y="1541661"/>
            <a:ext cx="11734506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00" dirty="0">
                <a:solidFill>
                  <a:srgbClr val="1E1E1C"/>
                </a:solidFill>
                <a:latin typeface="Host Grotesk" pitchFamily="34" charset="0"/>
                <a:ea typeface="Host Grotesk" pitchFamily="34" charset="-122"/>
                <a:cs typeface="Host Grotesk" pitchFamily="34" charset="0"/>
              </a:rPr>
              <a:t>Next steps: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189" y="1958181"/>
            <a:ext cx="11277318" cy="8622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21000"/>
              </a:lnSpc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1E1E1C"/>
                </a:solidFill>
                <a:latin typeface="Host Grotesk" pitchFamily="34" charset="0"/>
                <a:ea typeface="Host Grotesk" pitchFamily="34" charset="-122"/>
                <a:cs typeface="Host Grotesk" pitchFamily="34" charset="0"/>
              </a:rPr>
              <a:t>Launch the retention offers for the highest-risk segment.</a:t>
            </a:r>
            <a:endParaRPr lang="en-US" sz="1400" dirty="0"/>
          </a:p>
          <a:p>
            <a:pPr marL="284480" indent="-284480" algn="l">
              <a:lnSpc>
                <a:spcPct val="121000"/>
              </a:lnSpc>
              <a:buSzPct val="100000"/>
              <a:buFont typeface="+mj-lt"/>
              <a:buAutoNum type="arabicPeriod" startAt="2"/>
            </a:pPr>
            <a:r>
              <a:rPr lang="en-US" sz="1400" dirty="0">
                <a:solidFill>
                  <a:srgbClr val="1E1E1C"/>
                </a:solidFill>
                <a:latin typeface="Host Grotesk" pitchFamily="34" charset="0"/>
                <a:ea typeface="Host Grotesk" pitchFamily="34" charset="-122"/>
                <a:cs typeface="Host Grotesk" pitchFamily="34" charset="0"/>
              </a:rPr>
              <a:t>Track churn monthly on the dashboard.</a:t>
            </a:r>
            <a:endParaRPr lang="en-US" sz="1400" dirty="0"/>
          </a:p>
          <a:p>
            <a:pPr marL="284480" indent="-284480" algn="l">
              <a:lnSpc>
                <a:spcPct val="121000"/>
              </a:lnSpc>
              <a:buSzPct val="100000"/>
              <a:buFont typeface="+mj-lt"/>
              <a:buAutoNum type="arabicPeriod" startAt="3"/>
            </a:pPr>
            <a:r>
              <a:rPr lang="en-US" sz="1400" dirty="0">
                <a:solidFill>
                  <a:srgbClr val="1E1E1C"/>
                </a:solidFill>
                <a:latin typeface="Host Grotesk" pitchFamily="34" charset="0"/>
                <a:ea typeface="Host Grotesk" pitchFamily="34" charset="-122"/>
                <a:cs typeface="Host Grotesk" pitchFamily="34" charset="0"/>
              </a:rPr>
              <a:t>Investigate fiber service quality.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189" y="6143030"/>
            <a:ext cx="5410065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00" dirty="0">
                <a:solidFill>
                  <a:srgbClr val="1E1E1C"/>
                </a:solidFill>
                <a:latin typeface="Host Grotesk" pitchFamily="34" charset="0"/>
                <a:ea typeface="Host Grotesk" pitchFamily="34" charset="-122"/>
                <a:cs typeface="Host Grotesk" pitchFamily="34" charset="0"/>
              </a:rPr>
              <a:t>Contact: ehsanhoque29@gmail.com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324442" y="6143030"/>
            <a:ext cx="5410065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00" dirty="0">
                <a:solidFill>
                  <a:srgbClr val="1E1E1C"/>
                </a:solidFill>
                <a:latin typeface="Host Grotesk" pitchFamily="34" charset="0"/>
                <a:ea typeface="Host Grotesk" pitchFamily="34" charset="-122"/>
                <a:cs typeface="Host Grotesk" pitchFamily="34" charset="0"/>
              </a:rPr>
              <a:t>GitHub: https://github.com/Ahsan-Adnan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382</Words>
  <Application>Microsoft Office PowerPoint</Application>
  <PresentationFormat>Widescreen</PresentationFormat>
  <Paragraphs>64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Host Grotesk Bold</vt:lpstr>
      <vt:lpstr>Calibri</vt:lpstr>
      <vt:lpstr>Host Grotesk ExtraBold</vt:lpstr>
      <vt:lpstr>Host Grotesk</vt:lpstr>
      <vt:lpstr>Arial</vt:lpstr>
      <vt:lpstr>Host Grotesk Medium</vt:lpstr>
      <vt:lpstr>Host Grotesk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Ahsan Adnan</cp:lastModifiedBy>
  <cp:revision>2</cp:revision>
  <dcterms:created xsi:type="dcterms:W3CDTF">2026-10-23T16:13:42Z</dcterms:created>
  <dcterms:modified xsi:type="dcterms:W3CDTF">2026-10-23T16:28:23Z</dcterms:modified>
</cp:coreProperties>
</file>